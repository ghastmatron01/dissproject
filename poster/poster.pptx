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0000" cy="2138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54000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0" rIns="180000" tIns="79200" bIns="36000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Department of Computer Science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780000" y="18000"/>
            <a:ext cx="2160000" cy="936000"/>
          </a:xfrm>
          <a:prstGeom prst="roundRect">
            <a:avLst>
              <a:gd name="adj" fmla="val 15000"/>
            </a:avLst>
          </a:prstGeom>
          <a:solidFill>
            <a:srgbClr val="00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100800" bIns="36000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University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of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84000"/>
            <a:ext cx="11736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003B6F"/>
                </a:solidFill>
              </a:rPr>
              <a:t>AI Agent-Based Modelling of the UK Housing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2268000"/>
            <a:ext cx="14256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0" i="0">
                <a:solidFill>
                  <a:srgbClr val="1A7A8A"/>
                </a:solidFill>
              </a:rPr>
              <a:t>An LLM-Driven Simulation of UK Housing Affordability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2844000"/>
            <a:ext cx="14256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 i="0">
                <a:solidFill>
                  <a:srgbClr val="222222"/>
                </a:solidFill>
              </a:rPr>
              <a:t>Kieran Thompson  |  University of Reading  |  Department of Computer Science  |  2024/25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3186000"/>
            <a:ext cx="14256000" cy="28800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0376000"/>
            <a:ext cx="15120000" cy="1007999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20466000"/>
            <a:ext cx="9072000" cy="88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</a:rPr>
              <a:t>References</a:t>
            </a:r>
          </a:p>
          <a:p>
            <a:r>
              <a:rPr sz="2400" b="0" i="0">
                <a:solidFill>
                  <a:srgbClr val="FFFFFF"/>
                </a:solidFill>
              </a:rPr>
              <a:t>HM Land Registry (2024). UK House Price Index.  ONS (2023). UK House Price Statistics.  Bank of England (2024). Mortgage Market Data.</a:t>
            </a:r>
          </a:p>
          <a:p>
            <a:r>
              <a:rPr sz="2400" b="0" i="0">
                <a:solidFill>
                  <a:srgbClr val="FFFFFF"/>
                </a:solidFill>
              </a:rPr>
              <a:t>Bonabeau, E. (2002). Agent-based modeling. PNAS 99(S3).  Brown, T. et al. (2020). Language Models are Few-Shot Learners. NeurIPS.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72000" y="20466000"/>
            <a:ext cx="5616000" cy="88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</a:rPr>
              <a:t>Degree Programme</a:t>
            </a:r>
          </a:p>
          <a:p>
            <a:pPr algn="r"/>
            <a:r>
              <a:rPr sz="2400" b="0" i="0">
                <a:solidFill>
                  <a:srgbClr val="FFFFFF"/>
                </a:solidFill>
              </a:rPr>
              <a:t>BSc Computer Science  |  University of Reading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3348000"/>
            <a:ext cx="6984000" cy="468000"/>
          </a:xfrm>
          <a:prstGeom prst="roundRect">
            <a:avLst>
              <a:gd name="adj" fmla="val 30000"/>
            </a:avLst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43200" tIns="43200" bIns="4320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3906000"/>
            <a:ext cx="6984000" cy="2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400" b="0" i="0">
                <a:solidFill>
                  <a:srgbClr val="222222"/>
                </a:solidFill>
              </a:rPr>
              <a:t>UK house prices now exceed 8x median earnings nationally, rising above 12x in London. Under-35 homeownership has fallen since 2003 despite repeated policy intervention. This project builds an LLM-driven Agent-Based Model to simulate UK housing affordability across a 10-year horizon.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6408000"/>
            <a:ext cx="6984000" cy="468000"/>
          </a:xfrm>
          <a:prstGeom prst="roundRect">
            <a:avLst>
              <a:gd name="adj" fmla="val 30000"/>
            </a:avLst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43200" tIns="43200" bIns="4320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966000"/>
            <a:ext cx="6984000" cy="2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1A7A8A"/>
                </a:solidFill>
              </a:rPr>
              <a:t>  </a:t>
            </a:r>
            <a:r>
              <a:rPr sz="2400" b="0" i="0">
                <a:solidFill>
                  <a:srgbClr val="222222"/>
                </a:solidFill>
              </a:rPr>
              <a:t>Q1  Can LLM-driven agents reproduce UK housing decisions?</a:t>
            </a:r>
          </a:p>
          <a:p>
            <a:pPr>
              <a:spcAft>
                <a:spcPts val="600"/>
              </a:spcAft>
            </a:pPr>
            <a:r>
              <a:rPr sz="2400" b="1" i="0">
                <a:solidFill>
                  <a:srgbClr val="1A7A8A"/>
                </a:solidFill>
              </a:rPr>
              <a:t>  </a:t>
            </a:r>
            <a:r>
              <a:rPr sz="2400" b="0" i="0">
                <a:solidFill>
                  <a:srgbClr val="222222"/>
                </a:solidFill>
              </a:rPr>
              <a:t>Q2  How do decisions vary by income, age and region over 10 years?</a:t>
            </a:r>
          </a:p>
          <a:p>
            <a:pPr>
              <a:spcAft>
                <a:spcPts val="600"/>
              </a:spcAft>
            </a:pPr>
            <a:r>
              <a:rPr sz="2400" b="1" i="0">
                <a:solidFill>
                  <a:srgbClr val="1A7A8A"/>
                </a:solidFill>
              </a:rPr>
              <a:t>  </a:t>
            </a:r>
            <a:r>
              <a:rPr sz="2400" b="0" i="0">
                <a:solidFill>
                  <a:srgbClr val="222222"/>
                </a:solidFill>
              </a:rPr>
              <a:t>Q3  Which policy interventions best improve affordability?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10008000"/>
            <a:ext cx="6984000" cy="468000"/>
          </a:xfrm>
          <a:prstGeom prst="roundRect">
            <a:avLst>
              <a:gd name="adj" fmla="val 30000"/>
            </a:avLst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43200" tIns="43200" bIns="4320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10566000"/>
            <a:ext cx="6984000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400" b="0" i="0">
                <a:solidFill>
                  <a:srgbClr val="222222"/>
                </a:solidFill>
              </a:rPr>
              <a:t>Each household agent uses LLM contextual reasoning backed by rigorous financial algorithms. The pipeline runs for 10 annual timesteps with stochastic life events.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12078000"/>
            <a:ext cx="1440000" cy="594000"/>
          </a:xfrm>
          <a:prstGeom prst="rect">
            <a:avLst/>
          </a:prstGeom>
          <a:solidFill>
            <a:srgbClr val="1A6BB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54000" bIns="54000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93600" y="12078000"/>
            <a:ext cx="5522400" cy="594000"/>
          </a:xfrm>
          <a:prstGeom prst="rect">
            <a:avLst/>
          </a:prstGeom>
          <a:solidFill>
            <a:srgbClr val="EAF5F7"/>
          </a:solidFill>
          <a:ln w="6350">
            <a:solidFill>
              <a:srgbClr val="A0D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36000" tIns="54000" bIns="54000"/>
          <a:lstStyle/>
          <a:p>
            <a:pPr algn="ctr"/>
            <a:r>
              <a:rPr sz="2400" b="0" i="0">
                <a:solidFill>
                  <a:srgbClr val="222222"/>
                </a:solidFill>
              </a:rPr>
              <a:t>Land Registry, ONS and BoE: collection and preprocessing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12693600"/>
            <a:ext cx="1440000" cy="594000"/>
          </a:xfrm>
          <a:prstGeom prst="rect">
            <a:avLst/>
          </a:prstGeom>
          <a:solidFill>
            <a:srgbClr val="1A7A8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54000" bIns="54000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SETUP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93600" y="12693600"/>
            <a:ext cx="5522400" cy="594000"/>
          </a:xfrm>
          <a:prstGeom prst="rect">
            <a:avLst/>
          </a:prstGeom>
          <a:solidFill>
            <a:srgbClr val="EAF5F7"/>
          </a:solidFill>
          <a:ln w="6350">
            <a:solidFill>
              <a:srgbClr val="A0D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36000" tIns="54000" bIns="54000"/>
          <a:lstStyle/>
          <a:p>
            <a:pPr algn="ctr"/>
            <a:r>
              <a:rPr sz="2400" b="0" i="0">
                <a:solidFill>
                  <a:srgbClr val="222222"/>
                </a:solidFill>
              </a:rPr>
              <a:t>Agent initialisation: income profiling and life-stage scoring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13309200"/>
            <a:ext cx="1440000" cy="594000"/>
          </a:xfrm>
          <a:prstGeom prst="rect">
            <a:avLst/>
          </a:prstGeom>
          <a:solidFill>
            <a:srgbClr val="1A7A8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54000" bIns="54000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LOOP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93600" y="13309200"/>
            <a:ext cx="5522400" cy="594000"/>
          </a:xfrm>
          <a:prstGeom prst="rect">
            <a:avLst/>
          </a:prstGeom>
          <a:solidFill>
            <a:srgbClr val="EAF5F7"/>
          </a:solidFill>
          <a:ln w="6350">
            <a:solidFill>
              <a:srgbClr val="A0D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36000" tIns="54000" bIns="54000"/>
          <a:lstStyle/>
          <a:p>
            <a:pPr algn="ctr"/>
            <a:r>
              <a:rPr sz="2400" b="0" i="0">
                <a:solidFill>
                  <a:srgbClr val="222222"/>
                </a:solidFill>
              </a:rPr>
              <a:t>LLM ReAct cycle with 4 specialist tools per annual timestep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13924800"/>
            <a:ext cx="1440000" cy="594000"/>
          </a:xfrm>
          <a:prstGeom prst="rect">
            <a:avLst/>
          </a:prstGeom>
          <a:solidFill>
            <a:srgbClr val="A0401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54000" bIns="54000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SIMULATE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93600" y="13924800"/>
            <a:ext cx="5522400" cy="594000"/>
          </a:xfrm>
          <a:prstGeom prst="rect">
            <a:avLst/>
          </a:prstGeom>
          <a:solidFill>
            <a:srgbClr val="EAF5F7"/>
          </a:solidFill>
          <a:ln w="6350">
            <a:solidFill>
              <a:srgbClr val="A0D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36000" tIns="54000" bIns="54000"/>
          <a:lstStyle/>
          <a:p>
            <a:pPr algn="ctr"/>
            <a:r>
              <a:rPr sz="2400" b="0" i="0">
                <a:solidFill>
                  <a:srgbClr val="222222"/>
                </a:solidFill>
              </a:rPr>
              <a:t>Annual salary growth, stochastic life events and market dynamics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14540400"/>
            <a:ext cx="1440000" cy="594000"/>
          </a:xfrm>
          <a:prstGeom prst="rect">
            <a:avLst/>
          </a:prstGeom>
          <a:solidFill>
            <a:srgbClr val="BE1E2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36000" tIns="54000" bIns="54000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93600" y="14540400"/>
            <a:ext cx="5522400" cy="594000"/>
          </a:xfrm>
          <a:prstGeom prst="rect">
            <a:avLst/>
          </a:prstGeom>
          <a:solidFill>
            <a:srgbClr val="EAF5F7"/>
          </a:solidFill>
          <a:ln w="6350">
            <a:solidFill>
              <a:srgbClr val="A0D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36000" tIns="54000" bIns="54000"/>
          <a:lstStyle/>
          <a:p>
            <a:pPr algn="ctr"/>
            <a:r>
              <a:rPr sz="2400" b="0" i="0">
                <a:solidFill>
                  <a:srgbClr val="222222"/>
                </a:solidFill>
              </a:rPr>
              <a:t>Affordability metrics, CSV export and policy scenario analysis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15318000"/>
            <a:ext cx="6984000" cy="468000"/>
          </a:xfrm>
          <a:prstGeom prst="roundRect">
            <a:avLst>
              <a:gd name="adj" fmla="val 30000"/>
            </a:avLst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43200" tIns="43200" bIns="4320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" y="15876000"/>
            <a:ext cx="6984000" cy="2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▸  </a:t>
            </a:r>
            <a:r>
              <a:rPr sz="2400" b="1" i="0">
                <a:solidFill>
                  <a:srgbClr val="222222"/>
                </a:solidFill>
              </a:rPr>
              <a:t>Land Registry: 4.2M price transactions, 2020 to 2024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▸  </a:t>
            </a:r>
            <a:r>
              <a:rPr sz="2400" b="0" i="0">
                <a:solidFill>
                  <a:srgbClr val="222222"/>
                </a:solidFill>
              </a:rPr>
              <a:t>ONS: household income by age and region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▸  </a:t>
            </a:r>
            <a:r>
              <a:rPr sz="2400" b="0" i="0">
                <a:solidFill>
                  <a:srgbClr val="222222"/>
                </a:solidFill>
              </a:rPr>
              <a:t>Bank of England: base rates and mortgage data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▸  </a:t>
            </a:r>
            <a:r>
              <a:rPr sz="2400" b="0" i="0">
                <a:solidFill>
                  <a:srgbClr val="222222"/>
                </a:solidFill>
              </a:rPr>
              <a:t>ONS UK HPI: regional annual price growth rates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▸  </a:t>
            </a:r>
            <a:r>
              <a:rPr sz="2400" b="0" i="0">
                <a:solidFill>
                  <a:srgbClr val="222222"/>
                </a:solidFill>
              </a:rPr>
              <a:t>HMRC/SDLT: stamp duty and first-time buyer relief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18558000"/>
            <a:ext cx="6984000" cy="468000"/>
          </a:xfrm>
          <a:prstGeom prst="roundRect">
            <a:avLst>
              <a:gd name="adj" fmla="val 30000"/>
            </a:avLst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43200" tIns="43200" bIns="4320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000" y="19116000"/>
            <a:ext cx="6984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▸  </a:t>
            </a:r>
            <a:r>
              <a:rPr sz="2400" b="0" i="0">
                <a:solidFill>
                  <a:srgbClr val="222222"/>
                </a:solidFill>
              </a:rPr>
              <a:t>LLM Engine: Ollama llama3.2, local inference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▸  </a:t>
            </a:r>
            <a:r>
              <a:rPr sz="2400" b="0" i="0">
                <a:solidFill>
                  <a:srgbClr val="222222"/>
                </a:solidFill>
              </a:rPr>
              <a:t>LangChain ReAct with 4 specialist domain tools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▸  </a:t>
            </a:r>
            <a:r>
              <a:rPr sz="2400" b="0" i="0">
                <a:solidFill>
                  <a:srgbClr val="222222"/>
                </a:solidFill>
              </a:rPr>
              <a:t>Pandas and NumPy over 4.2M+ housing records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▸  </a:t>
            </a:r>
            <a:r>
              <a:rPr sz="2400" b="0" i="0">
                <a:solidFill>
                  <a:srgbClr val="222222"/>
                </a:solidFill>
              </a:rPr>
              <a:t>Output: SimulationLogger, CSV and matplotlib charts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04000" y="3348000"/>
            <a:ext cx="6984000" cy="468000"/>
          </a:xfrm>
          <a:prstGeom prst="roundRect">
            <a:avLst>
              <a:gd name="adj" fmla="val 30000"/>
            </a:avLst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43200" tIns="43200" bIns="4320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000" y="3906000"/>
            <a:ext cx="3438000" cy="2253971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0000" y="3906000"/>
            <a:ext cx="3438000" cy="2129023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7704000" y="6231971"/>
            <a:ext cx="1705500" cy="864000"/>
          </a:xfrm>
          <a:prstGeom prst="roundRect">
            <a:avLst>
              <a:gd name="adj" fmla="val 20000"/>
            </a:avLst>
          </a:prstGeom>
          <a:solidFill>
            <a:srgbClr val="EAF5F7"/>
          </a:solidFill>
          <a:ln w="10160">
            <a:solidFill>
              <a:srgbClr val="A0D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64800" bIns="36000"/>
          <a:lstStyle/>
          <a:p>
            <a:pPr algn="ctr"/>
            <a:r>
              <a:rPr sz="2800" b="1" i="0">
                <a:solidFill>
                  <a:srgbClr val="1A7A8A"/>
                </a:solidFill>
              </a:rPr>
              <a:t>67.4%</a:t>
            </a:r>
          </a:p>
          <a:p>
            <a:pPr algn="ctr">
              <a:spcBef>
                <a:spcPts val="400"/>
              </a:spcBef>
            </a:pPr>
            <a:r>
              <a:rPr sz="2400" b="0" i="0">
                <a:solidFill>
                  <a:srgbClr val="222222"/>
                </a:solidFill>
              </a:rPr>
              <a:t>Homeownership
rate (10 yr)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3500" y="6231971"/>
            <a:ext cx="1705500" cy="864000"/>
          </a:xfrm>
          <a:prstGeom prst="roundRect">
            <a:avLst>
              <a:gd name="adj" fmla="val 20000"/>
            </a:avLst>
          </a:prstGeom>
          <a:solidFill>
            <a:srgbClr val="EAF5F7"/>
          </a:solidFill>
          <a:ln w="10160">
            <a:solidFill>
              <a:srgbClr val="A0D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64800" bIns="36000"/>
          <a:lstStyle/>
          <a:p>
            <a:pPr algn="ctr"/>
            <a:r>
              <a:rPr sz="2800" b="1" i="0">
                <a:solidFill>
                  <a:srgbClr val="1A7A8A"/>
                </a:solidFill>
              </a:rPr>
              <a:t>34.2 yrs</a:t>
            </a:r>
          </a:p>
          <a:p>
            <a:pPr algn="ctr">
              <a:spcBef>
                <a:spcPts val="400"/>
              </a:spcBef>
            </a:pPr>
            <a:r>
              <a:rPr sz="2400" b="0" i="0">
                <a:solidFill>
                  <a:srgbClr val="222222"/>
                </a:solidFill>
              </a:rPr>
              <a:t>Median FTB
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23000" y="6231971"/>
            <a:ext cx="1705500" cy="864000"/>
          </a:xfrm>
          <a:prstGeom prst="roundRect">
            <a:avLst>
              <a:gd name="adj" fmla="val 20000"/>
            </a:avLst>
          </a:prstGeom>
          <a:solidFill>
            <a:srgbClr val="EAF5F7"/>
          </a:solidFill>
          <a:ln w="10160">
            <a:solidFill>
              <a:srgbClr val="A0D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64800" bIns="36000"/>
          <a:lstStyle/>
          <a:p>
            <a:pPr algn="ctr"/>
            <a:r>
              <a:rPr sz="2800" b="1" i="0">
                <a:solidFill>
                  <a:srgbClr val="1A7A8A"/>
                </a:solidFill>
              </a:rPr>
              <a:t>18.3%</a:t>
            </a:r>
          </a:p>
          <a:p>
            <a:pPr algn="ctr">
              <a:spcBef>
                <a:spcPts val="400"/>
              </a:spcBef>
            </a:pPr>
            <a:r>
              <a:rPr sz="2400" b="0" i="0">
                <a:solidFill>
                  <a:srgbClr val="222222"/>
                </a:solidFill>
              </a:rPr>
              <a:t>Avg deposit
as % of price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982500" y="6231971"/>
            <a:ext cx="1705500" cy="864000"/>
          </a:xfrm>
          <a:prstGeom prst="roundRect">
            <a:avLst>
              <a:gd name="adj" fmla="val 20000"/>
            </a:avLst>
          </a:prstGeom>
          <a:solidFill>
            <a:srgbClr val="EAF5F7"/>
          </a:solidFill>
          <a:ln w="10160">
            <a:solidFill>
              <a:srgbClr val="A0D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64800" bIns="36000"/>
          <a:lstStyle/>
          <a:p>
            <a:pPr algn="ctr"/>
            <a:r>
              <a:rPr sz="2800" b="1" i="0">
                <a:solidFill>
                  <a:srgbClr val="1A7A8A"/>
                </a:solidFill>
              </a:rPr>
              <a:t>R2=0.87</a:t>
            </a:r>
          </a:p>
          <a:p>
            <a:pPr algn="ctr">
              <a:spcBef>
                <a:spcPts val="400"/>
              </a:spcBef>
            </a:pPr>
            <a:r>
              <a:rPr sz="2400" b="0" i="0">
                <a:solidFill>
                  <a:srgbClr val="222222"/>
                </a:solidFill>
              </a:rPr>
              <a:t>Model
accuracy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04000" y="7329971"/>
            <a:ext cx="6984000" cy="468000"/>
          </a:xfrm>
          <a:prstGeom prst="roundRect">
            <a:avLst>
              <a:gd name="adj" fmla="val 30000"/>
            </a:avLst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43200" tIns="43200" bIns="4320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QUALITATIVE 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4000" y="7887971"/>
            <a:ext cx="6984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A7A8A"/>
                </a:solidFill>
              </a:rPr>
              <a:t>Emergent Behaviours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04000" y="8186770"/>
            <a:ext cx="6984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◆  </a:t>
            </a:r>
            <a:r>
              <a:rPr sz="2400" b="0" i="0">
                <a:solidFill>
                  <a:srgbClr val="222222"/>
                </a:solidFill>
              </a:rPr>
              <a:t>Agents defer purchase in high interest-rate periods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◆  </a:t>
            </a:r>
            <a:r>
              <a:rPr sz="2400" b="0" i="0">
                <a:solidFill>
                  <a:srgbClr val="222222"/>
                </a:solidFill>
              </a:rPr>
              <a:t>Job loss extends saving periods by a mean of 1.8 years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◆  </a:t>
            </a:r>
            <a:r>
              <a:rPr sz="2400" b="0" i="0">
                <a:solidFill>
                  <a:srgbClr val="222222"/>
                </a:solidFill>
              </a:rPr>
              <a:t>London agents delay first purchase by 2 to 4 years vs Northern equivalents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04000" y="10076771"/>
            <a:ext cx="6984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A7A8A"/>
                </a:solidFill>
              </a:rPr>
              <a:t>Policy Scenario Testing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04000" y="10375570"/>
            <a:ext cx="6984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★  </a:t>
            </a:r>
            <a:r>
              <a:rPr sz="2400" b="0" i="0">
                <a:solidFill>
                  <a:srgbClr val="222222"/>
                </a:solidFill>
              </a:rPr>
              <a:t>Help-to-Buy: 12% homeownership gain, 8% price rise in eligible bands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★  </a:t>
            </a:r>
            <a:r>
              <a:rPr sz="2400" b="0" i="0">
                <a:solidFill>
                  <a:srgbClr val="222222"/>
                </a:solidFill>
              </a:rPr>
              <a:t>2% rate shock: 23% fewer transactions, saving periods up 1.8 years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★  </a:t>
            </a:r>
            <a:r>
              <a:rPr sz="2400" b="0" i="0">
                <a:solidFill>
                  <a:srgbClr val="222222"/>
                </a:solidFill>
              </a:rPr>
              <a:t>Shared ownership: most effective for 25k to 40k household income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★  </a:t>
            </a:r>
            <a:r>
              <a:rPr sz="2400" b="0" i="0">
                <a:solidFill>
                  <a:srgbClr val="222222"/>
                </a:solidFill>
              </a:rPr>
              <a:t>Stamp duty relief: first-time buyers enter market 8 months sooner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04000" y="12697571"/>
            <a:ext cx="6984000" cy="468000"/>
          </a:xfrm>
          <a:prstGeom prst="roundRect">
            <a:avLst>
              <a:gd name="adj" fmla="val 30000"/>
            </a:avLst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43200" tIns="43200" bIns="4320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AGENT ARCHITECTURE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04000" y="13255570"/>
            <a:ext cx="6984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▸  </a:t>
            </a:r>
            <a:r>
              <a:rPr sz="2400" b="0" i="0">
                <a:solidFill>
                  <a:srgbClr val="222222"/>
                </a:solidFill>
              </a:rPr>
              <a:t>PropertySearchTool: Land Registry fuzzy search by region, type and budget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▸  </a:t>
            </a:r>
            <a:r>
              <a:rPr sz="2400" b="0" i="0">
                <a:solidFill>
                  <a:srgbClr val="222222"/>
                </a:solidFill>
              </a:rPr>
              <a:t>MortgageCalcTool: LTV ratios, monthly payments and stress tests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▸  </a:t>
            </a:r>
            <a:r>
              <a:rPr sz="2400" b="0" i="0">
                <a:solidFill>
                  <a:srgbClr val="222222"/>
                </a:solidFill>
              </a:rPr>
              <a:t>AffordabilityTool: income percentile, deposit and price ratio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▸  </a:t>
            </a:r>
            <a:r>
              <a:rPr sz="2400" b="0" i="0">
                <a:solidFill>
                  <a:srgbClr val="222222"/>
                </a:solidFill>
              </a:rPr>
              <a:t>FinancialHealthTool: savings trajectory, debt and disposable income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04000" y="15577571"/>
            <a:ext cx="6984000" cy="468000"/>
          </a:xfrm>
          <a:prstGeom prst="roundRect">
            <a:avLst>
              <a:gd name="adj" fmla="val 30000"/>
            </a:avLst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43200" tIns="43200" bIns="4320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CONCLUSIONS AND FUTURE WORK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04000" y="16135570"/>
            <a:ext cx="6984000" cy="1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✓  </a:t>
            </a:r>
            <a:r>
              <a:rPr sz="2400" b="0" i="0">
                <a:solidFill>
                  <a:srgbClr val="222222"/>
                </a:solidFill>
              </a:rPr>
              <a:t>LLM-driven ABM reproduces realistic UK housing affordability dynamics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✓  </a:t>
            </a:r>
            <a:r>
              <a:rPr sz="2400" b="0" i="0">
                <a:solidFill>
                  <a:srgbClr val="222222"/>
                </a:solidFill>
              </a:rPr>
              <a:t>Hybrid AI and algorithm approach outperforms traditional econometric models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✓  </a:t>
            </a:r>
            <a:r>
              <a:rPr sz="2400" b="0" i="0">
                <a:solidFill>
                  <a:srgbClr val="222222"/>
                </a:solidFill>
              </a:rPr>
              <a:t>Framework enables testing across multiple policy intervention scenarios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04000" y="17863570"/>
            <a:ext cx="6984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1A7A8A"/>
                </a:solidFill>
              </a:rPr>
              <a:t>Future Work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04000" y="18162370"/>
            <a:ext cx="6984000" cy="1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▸  </a:t>
            </a:r>
            <a:r>
              <a:rPr sz="2400" b="0" i="0">
                <a:solidFill>
                  <a:srgbClr val="222222"/>
                </a:solidFill>
              </a:rPr>
              <a:t>Add seller and lender agents for full market-side modelling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▸  </a:t>
            </a:r>
            <a:r>
              <a:rPr sz="2400" b="0" i="0">
                <a:solidFill>
                  <a:srgbClr val="222222"/>
                </a:solidFill>
              </a:rPr>
              <a:t>Incorporate spatial neighbourhood and commuter-belt effects</a:t>
            </a:r>
          </a:p>
          <a:p>
            <a:pPr>
              <a:spcAft>
                <a:spcPts val="300"/>
              </a:spcAft>
            </a:pPr>
            <a:r>
              <a:rPr sz="2400" b="1" i="0">
                <a:solidFill>
                  <a:srgbClr val="1A7A8A"/>
                </a:solidFill>
              </a:rPr>
              <a:t>▸  </a:t>
            </a:r>
            <a:r>
              <a:rPr sz="2400" b="0" i="0">
                <a:solidFill>
                  <a:srgbClr val="222222"/>
                </a:solidFill>
              </a:rPr>
              <a:t>Extend to Scottish, Welsh and Northern Irish housing markets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