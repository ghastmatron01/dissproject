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120000" cy="2138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120000" cy="540000"/>
          </a:xfrm>
          <a:prstGeom prst="rect">
            <a:avLst/>
          </a:prstGeom>
          <a:solidFill>
            <a:srgbClr val="1A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0" rIns="180000" tIns="72000" bIns="36000"/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Department of Computer Science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067999" y="18000"/>
            <a:ext cx="1872000" cy="756000"/>
          </a:xfrm>
          <a:prstGeom prst="roundRect">
            <a:avLst>
              <a:gd name="adj" fmla="val 15000"/>
            </a:avLst>
          </a:prstGeom>
          <a:solidFill>
            <a:srgbClr val="003B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000" rIns="54000" tIns="64800" bIns="36000"/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University</a:t>
            </a:r>
          </a:p>
          <a:p>
            <a:pPr algn="ctr"/>
            <a:r>
              <a:rPr sz="950" b="0" i="0">
                <a:solidFill>
                  <a:srgbClr val="FFFFFF"/>
                </a:solidFill>
              </a:rPr>
              <a:t>of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48000"/>
            <a:ext cx="12096000" cy="10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003B6F"/>
                </a:solidFill>
              </a:rPr>
              <a:t>AI Agent-Based Modelling of the UK Housing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728000"/>
            <a:ext cx="14256000" cy="39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0">
                <a:solidFill>
                  <a:srgbClr val="1A7A8A"/>
                </a:solidFill>
              </a:rPr>
              <a:t>An LLM-Driven Simulation of UK Housing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2160000"/>
            <a:ext cx="14256000" cy="23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0" i="0">
                <a:solidFill>
                  <a:srgbClr val="222222"/>
                </a:solidFill>
              </a:rPr>
              <a:t>Kieran Thompson  |  University of Reading  ·  Department of Computer Science  ·  2024/25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32000" y="2563200"/>
            <a:ext cx="14256000" cy="25200"/>
          </a:xfrm>
          <a:prstGeom prst="rect">
            <a:avLst/>
          </a:prstGeom>
          <a:solidFill>
            <a:srgbClr val="1A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20736000"/>
            <a:ext cx="15120000" cy="648000"/>
          </a:xfrm>
          <a:prstGeom prst="rect">
            <a:avLst/>
          </a:prstGeom>
          <a:solidFill>
            <a:srgbClr val="1A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000" y="20779200"/>
            <a:ext cx="93744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50" b="1" i="0">
                <a:solidFill>
                  <a:srgbClr val="FFFFFF"/>
                </a:solidFill>
              </a:rPr>
              <a:t>References</a:t>
            </a:r>
          </a:p>
          <a:p>
            <a:r>
              <a:rPr sz="600" b="0" i="0">
                <a:solidFill>
                  <a:srgbClr val="FFFFFF"/>
                </a:solidFill>
              </a:rPr>
              <a:t>HM Land Registry (2024). UK House Price Index.   ONS (2023). UK House Price Statistics.   Bank of England (2024). Mortgage Market Data.</a:t>
            </a:r>
          </a:p>
          <a:p>
            <a:r>
              <a:rPr sz="600" b="0" i="0">
                <a:solidFill>
                  <a:srgbClr val="FFFFFF"/>
                </a:solidFill>
              </a:rPr>
              <a:t>Bonabeau, E. (2002). Agent-based modeling. PNAS 99(S3).   Brown, T. et al. (2020). Language Models are Few-Shot Learners. NeurIPS.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4400" y="20779200"/>
            <a:ext cx="5313600" cy="57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650" b="1" i="0">
                <a:solidFill>
                  <a:srgbClr val="FFFFFF"/>
                </a:solidFill>
              </a:rPr>
              <a:t>Degree Programme</a:t>
            </a:r>
          </a:p>
          <a:p>
            <a:pPr algn="r"/>
            <a:r>
              <a:rPr sz="600" b="0" i="0">
                <a:solidFill>
                  <a:srgbClr val="FFFFFF"/>
                </a:solidFill>
              </a:rPr>
              <a:t>BSc Computer Science  ·  University of Reading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000" y="2772000"/>
            <a:ext cx="6984000" cy="244800"/>
          </a:xfrm>
          <a:prstGeom prst="roundRect">
            <a:avLst>
              <a:gd name="adj" fmla="val 30000"/>
            </a:avLst>
          </a:prstGeom>
          <a:solidFill>
            <a:srgbClr val="1A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43200" tIns="28800" bIns="28800"/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3088800"/>
            <a:ext cx="6984000" cy="19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700" b="0" i="0">
                <a:solidFill>
                  <a:srgbClr val="222222"/>
                </a:solidFill>
              </a:rPr>
              <a:t>The United Kingdom faces a severe housing affordability crisis. National median house prices have risen to over 8× median annual household earnings, pricing millions of first-time buyers out of the market. In Greater London this ratio exceeds 12×, creating a stark structural divide. Despite decades of policy intervention — Help-to-Buy, Shared Ownership, stamp-duty relief — homeownership rates among the under-35s have fallen steadily since 2003.</a:t>
            </a:r>
          </a:p>
          <a:p>
            <a:pPr>
              <a:spcAft>
                <a:spcPts val="400"/>
              </a:spcAft>
            </a:pPr>
            <a:r>
              <a:rPr sz="700" b="0" i="0">
                <a:solidFill>
                  <a:srgbClr val="222222"/>
                </a:solidFill>
              </a:rPr>
              <a:t>Traditional econometric models rely on aggregate supply-demand assumptions that fail to capture the emergent, heterogeneous behaviours driving real housing markets. Individual household decisions — shaped by income, life stage, debt, and local conditions — aggregate into complex dynamics that are fundamentally non-linear and path-dependent.</a:t>
            </a:r>
          </a:p>
          <a:p>
            <a:pPr>
              <a:spcAft>
                <a:spcPts val="400"/>
              </a:spcAft>
            </a:pPr>
            <a:r>
              <a:rPr sz="700" b="0" i="0">
                <a:solidFill>
                  <a:srgbClr val="222222"/>
                </a:solidFill>
              </a:rPr>
              <a:t>This research presents a novel Agent-Based Model (ABM) combining Large Language Model (LLM) reasoning with rigorous quantitative financial algorithms. Each agent represents a unique household navigating realistic constraints across a 10-year simulation horizon, producing outputs suitable for policy evaluation.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5122799"/>
            <a:ext cx="6984000" cy="244800"/>
          </a:xfrm>
          <a:prstGeom prst="roundRect">
            <a:avLst>
              <a:gd name="adj" fmla="val 30000"/>
            </a:avLst>
          </a:prstGeom>
          <a:solidFill>
            <a:srgbClr val="1A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43200" tIns="28800" bIns="28800"/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RESEARCH QUESTIONS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5439599"/>
            <a:ext cx="6984000" cy="11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650" b="1" i="0">
                <a:solidFill>
                  <a:srgbClr val="1A7A8A"/>
                </a:solidFill>
              </a:rPr>
              <a:t>▶  </a:t>
            </a:r>
            <a:r>
              <a:rPr sz="650" b="0" i="0">
                <a:solidFill>
                  <a:srgbClr val="222222"/>
                </a:solidFill>
              </a:rPr>
              <a:t>Can LLM-driven agents produce contextually appropriate housing decisions consistent with empirically observed UK behavioural patterns?</a:t>
            </a:r>
          </a:p>
          <a:p>
            <a:pPr>
              <a:spcAft>
                <a:spcPts val="300"/>
              </a:spcAft>
            </a:pPr>
            <a:r>
              <a:rPr sz="650" b="1" i="0">
                <a:solidFill>
                  <a:srgbClr val="1A7A8A"/>
                </a:solidFill>
              </a:rPr>
              <a:t>▶  </a:t>
            </a:r>
            <a:r>
              <a:rPr sz="650" b="0" i="0">
                <a:solidFill>
                  <a:srgbClr val="222222"/>
                </a:solidFill>
              </a:rPr>
              <a:t>How do heterogeneous agent decisions compare across income groups, ages, and regions over a 10-year simulation horizon?</a:t>
            </a:r>
          </a:p>
          <a:p>
            <a:pPr>
              <a:spcAft>
                <a:spcPts val="300"/>
              </a:spcAft>
            </a:pPr>
            <a:r>
              <a:rPr sz="650" b="1" i="0">
                <a:solidFill>
                  <a:srgbClr val="1A7A8A"/>
                </a:solidFill>
              </a:rPr>
              <a:t>▶  </a:t>
            </a:r>
            <a:r>
              <a:rPr sz="650" b="0" i="0">
                <a:solidFill>
                  <a:srgbClr val="222222"/>
                </a:solidFill>
              </a:rPr>
              <a:t>Which policy interventions — Help-to-Buy, interest-rate changes, shared ownership — most effectively improve affordability for target demographics?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000" y="6717600"/>
            <a:ext cx="6984000" cy="244800"/>
          </a:xfrm>
          <a:prstGeom prst="roundRect">
            <a:avLst>
              <a:gd name="adj" fmla="val 30000"/>
            </a:avLst>
          </a:prstGeom>
          <a:solidFill>
            <a:srgbClr val="1A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43200" tIns="28800" bIns="28800"/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7034400"/>
            <a:ext cx="69840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0" i="0">
                <a:solidFill>
                  <a:srgbClr val="222222"/>
                </a:solidFill>
              </a:rPr>
              <a:t>Each agent encapsulates a household with unique financial circumstances, life-stage preferences, and decision-making characteristics. The hybrid LLM + algorithm design ensures decisions are simultaneously contextually intelligent (via language model reasoning) and financially rigorous (via validated economic algorithms).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7736399"/>
            <a:ext cx="1620000" cy="439200"/>
          </a:xfrm>
          <a:prstGeom prst="rect">
            <a:avLst/>
          </a:prstGeom>
          <a:solidFill>
            <a:srgbClr val="1A6BB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28800" tIns="36000" bIns="36000"/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DATA
COLLECTION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66400" y="7736399"/>
            <a:ext cx="5349600" cy="439200"/>
          </a:xfrm>
          <a:prstGeom prst="rect">
            <a:avLst/>
          </a:prstGeom>
          <a:solidFill>
            <a:srgbClr val="EAF5F7"/>
          </a:solidFill>
          <a:ln w="6350">
            <a:solidFill>
              <a:srgbClr val="A0D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800" rIns="36000" tIns="36000" bIns="36000"/>
          <a:lstStyle/>
          <a:p>
            <a:pPr algn="ctr">
              <a:spcAft>
                <a:spcPts val="100"/>
              </a:spcAft>
            </a:pPr>
            <a:r>
              <a:rPr sz="600" b="0" i="0">
                <a:solidFill>
                  <a:srgbClr val="222222"/>
                </a:solidFill>
              </a:rPr>
              <a:t>• HM Land Registry CSVs (2020–2024)</a:t>
            </a:r>
          </a:p>
          <a:p>
            <a:pPr>
              <a:spcAft>
                <a:spcPts val="100"/>
              </a:spcAft>
            </a:pPr>
            <a:r>
              <a:rPr sz="600" b="0" i="0">
                <a:solidFill>
                  <a:srgbClr val="222222"/>
                </a:solidFill>
              </a:rPr>
              <a:t>• ONS income survey · BoE base rates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8190000"/>
            <a:ext cx="1620000" cy="439200"/>
          </a:xfrm>
          <a:prstGeom prst="rect">
            <a:avLst/>
          </a:prstGeom>
          <a:solidFill>
            <a:srgbClr val="1A6BB5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28800" tIns="36000" bIns="36000"/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DATA
PREP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66400" y="8190000"/>
            <a:ext cx="5349600" cy="439200"/>
          </a:xfrm>
          <a:prstGeom prst="rect">
            <a:avLst/>
          </a:prstGeom>
          <a:solidFill>
            <a:srgbClr val="EAF5F7"/>
          </a:solidFill>
          <a:ln w="6350">
            <a:solidFill>
              <a:srgbClr val="A0D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800" rIns="36000" tIns="36000" bIns="36000"/>
          <a:lstStyle/>
          <a:p>
            <a:pPr algn="ctr">
              <a:spcAft>
                <a:spcPts val="100"/>
              </a:spcAft>
            </a:pPr>
            <a:r>
              <a:rPr sz="600" b="0" i="0">
                <a:solidFill>
                  <a:srgbClr val="222222"/>
                </a:solidFill>
              </a:rPr>
              <a:t>• Fuzzy county normalisation · Outlier removal</a:t>
            </a:r>
          </a:p>
          <a:p>
            <a:pPr>
              <a:spcAft>
                <a:spcPts val="100"/>
              </a:spcAft>
            </a:pPr>
            <a:r>
              <a:rPr sz="600" b="0" i="0">
                <a:solidFill>
                  <a:srgbClr val="222222"/>
                </a:solidFill>
              </a:rPr>
              <a:t>• Affordability feature engineering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2000" y="8643600"/>
            <a:ext cx="1620000" cy="439200"/>
          </a:xfrm>
          <a:prstGeom prst="rect">
            <a:avLst/>
          </a:prstGeom>
          <a:solidFill>
            <a:srgbClr val="1A7A8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28800" tIns="36000" bIns="36000"/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AGENT
SETUP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66400" y="8643600"/>
            <a:ext cx="5349600" cy="439200"/>
          </a:xfrm>
          <a:prstGeom prst="rect">
            <a:avLst/>
          </a:prstGeom>
          <a:solidFill>
            <a:srgbClr val="EAF5F7"/>
          </a:solidFill>
          <a:ln w="6350">
            <a:solidFill>
              <a:srgbClr val="A0D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800" rIns="36000" tIns="36000" bIns="36000"/>
          <a:lstStyle/>
          <a:p>
            <a:pPr algn="ctr">
              <a:spcAft>
                <a:spcPts val="100"/>
              </a:spcAft>
            </a:pPr>
            <a:r>
              <a:rPr sz="600" b="0" i="0">
                <a:solidFill>
                  <a:srgbClr val="222222"/>
                </a:solidFill>
              </a:rPr>
              <a:t>• ONS income-percentile profiling</a:t>
            </a:r>
          </a:p>
          <a:p>
            <a:pPr>
              <a:spcAft>
                <a:spcPts val="100"/>
              </a:spcAft>
            </a:pPr>
            <a:r>
              <a:rPr sz="600" b="0" i="0">
                <a:solidFill>
                  <a:srgbClr val="222222"/>
                </a:solidFill>
              </a:rPr>
              <a:t>• Life-stage classification · Preference scoring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9097200"/>
            <a:ext cx="1620000" cy="439200"/>
          </a:xfrm>
          <a:prstGeom prst="rect">
            <a:avLst/>
          </a:prstGeom>
          <a:solidFill>
            <a:srgbClr val="1A7A8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28800" tIns="36000" bIns="36000"/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LLM +
TOOLS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66400" y="9097200"/>
            <a:ext cx="5349600" cy="439200"/>
          </a:xfrm>
          <a:prstGeom prst="rect">
            <a:avLst/>
          </a:prstGeom>
          <a:solidFill>
            <a:srgbClr val="EAF5F7"/>
          </a:solidFill>
          <a:ln w="6350">
            <a:solidFill>
              <a:srgbClr val="A0D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800" rIns="36000" tIns="36000" bIns="36000"/>
          <a:lstStyle/>
          <a:p>
            <a:pPr algn="ctr">
              <a:spcAft>
                <a:spcPts val="100"/>
              </a:spcAft>
            </a:pPr>
            <a:r>
              <a:rPr sz="600" b="0" i="0">
                <a:solidFill>
                  <a:srgbClr val="222222"/>
                </a:solidFill>
              </a:rPr>
              <a:t>• Ollama llama3.2 · LangChain ReAct loop</a:t>
            </a:r>
          </a:p>
          <a:p>
            <a:pPr>
              <a:spcAft>
                <a:spcPts val="100"/>
              </a:spcAft>
            </a:pPr>
            <a:r>
              <a:rPr sz="600" b="0" i="0">
                <a:solidFill>
                  <a:srgbClr val="222222"/>
                </a:solidFill>
              </a:rPr>
              <a:t>• 4 domain tool registrations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2000" y="9550800"/>
            <a:ext cx="1620000" cy="439200"/>
          </a:xfrm>
          <a:prstGeom prst="rect">
            <a:avLst/>
          </a:prstGeom>
          <a:solidFill>
            <a:srgbClr val="1A7A8A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28800" tIns="36000" bIns="36000"/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TOOL
EXECUTION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66400" y="9550800"/>
            <a:ext cx="5349600" cy="439200"/>
          </a:xfrm>
          <a:prstGeom prst="rect">
            <a:avLst/>
          </a:prstGeom>
          <a:solidFill>
            <a:srgbClr val="EAF5F7"/>
          </a:solidFill>
          <a:ln w="6350">
            <a:solidFill>
              <a:srgbClr val="A0D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800" rIns="36000" tIns="36000" bIns="36000"/>
          <a:lstStyle/>
          <a:p>
            <a:pPr algn="ctr">
              <a:spcAft>
                <a:spcPts val="100"/>
              </a:spcAft>
            </a:pPr>
            <a:r>
              <a:rPr sz="600" b="0" i="0">
                <a:solidFill>
                  <a:srgbClr val="222222"/>
                </a:solidFill>
              </a:rPr>
              <a:t>• PropertySearch · MortgageCalc</a:t>
            </a:r>
          </a:p>
          <a:p>
            <a:pPr>
              <a:spcAft>
                <a:spcPts val="100"/>
              </a:spcAft>
            </a:pPr>
            <a:r>
              <a:rPr sz="600" b="0" i="0">
                <a:solidFill>
                  <a:srgbClr val="222222"/>
                </a:solidFill>
              </a:rPr>
              <a:t>• AffordabilityCheck · FinancialHealth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000" y="10004400"/>
            <a:ext cx="1620000" cy="439200"/>
          </a:xfrm>
          <a:prstGeom prst="rect">
            <a:avLst/>
          </a:prstGeom>
          <a:solidFill>
            <a:srgbClr val="A0401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28800" tIns="36000" bIns="36000"/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ANNUAL
STEP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66400" y="10004400"/>
            <a:ext cx="5349600" cy="439200"/>
          </a:xfrm>
          <a:prstGeom prst="rect">
            <a:avLst/>
          </a:prstGeom>
          <a:solidFill>
            <a:srgbClr val="EAF5F7"/>
          </a:solidFill>
          <a:ln w="6350">
            <a:solidFill>
              <a:srgbClr val="A0D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800" rIns="36000" tIns="36000" bIns="36000"/>
          <a:lstStyle/>
          <a:p>
            <a:pPr algn="ctr">
              <a:spcAft>
                <a:spcPts val="100"/>
              </a:spcAft>
            </a:pPr>
            <a:r>
              <a:rPr sz="600" b="0" i="0">
                <a:solidFill>
                  <a:srgbClr val="222222"/>
                </a:solidFill>
              </a:rPr>
              <a:t>• Salary &amp; expense inflation (2.5%)</a:t>
            </a:r>
          </a:p>
          <a:p>
            <a:pPr>
              <a:spcAft>
                <a:spcPts val="100"/>
              </a:spcAft>
            </a:pPr>
            <a:r>
              <a:rPr sz="600" b="0" i="0">
                <a:solidFill>
                  <a:srgbClr val="222222"/>
                </a:solidFill>
              </a:rPr>
              <a:t>• Stochastic life events · LLM decision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000" y="10458000"/>
            <a:ext cx="1620000" cy="439200"/>
          </a:xfrm>
          <a:prstGeom prst="rect">
            <a:avLst/>
          </a:prstGeom>
          <a:solidFill>
            <a:srgbClr val="A04010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28800" tIns="36000" bIns="36000"/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MARKET
DYNAMICS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66400" y="10458000"/>
            <a:ext cx="5349600" cy="439200"/>
          </a:xfrm>
          <a:prstGeom prst="rect">
            <a:avLst/>
          </a:prstGeom>
          <a:solidFill>
            <a:srgbClr val="EAF5F7"/>
          </a:solidFill>
          <a:ln w="6350">
            <a:solidFill>
              <a:srgbClr val="A0D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800" rIns="36000" tIns="36000" bIns="36000"/>
          <a:lstStyle/>
          <a:p>
            <a:pPr algn="ctr">
              <a:spcAft>
                <a:spcPts val="100"/>
              </a:spcAft>
            </a:pPr>
            <a:r>
              <a:rPr sz="600" b="0" i="0">
                <a:solidFill>
                  <a:srgbClr val="222222"/>
                </a:solidFill>
              </a:rPr>
              <a:t>• Regional ONS price growth (2–4% p.a.)</a:t>
            </a:r>
          </a:p>
          <a:p>
            <a:pPr>
              <a:spcAft>
                <a:spcPts val="100"/>
              </a:spcAft>
            </a:pPr>
            <a:r>
              <a:rPr sz="600" b="0" i="0">
                <a:solidFill>
                  <a:srgbClr val="222222"/>
                </a:solidFill>
              </a:rPr>
              <a:t>• Mortgage stress test (+3%) · Logging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10911600"/>
            <a:ext cx="1620000" cy="439200"/>
          </a:xfrm>
          <a:prstGeom prst="rect">
            <a:avLst/>
          </a:prstGeom>
          <a:solidFill>
            <a:srgbClr val="BE1E2D"/>
          </a:solidFill>
          <a:ln w="63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28800" tIns="36000" bIns="36000"/>
          <a:lstStyle/>
          <a:p>
            <a:pPr algn="ctr"/>
            <a:r>
              <a:rPr sz="600" b="1" i="0">
                <a:solidFill>
                  <a:srgbClr val="FFFFFF"/>
                </a:solidFill>
              </a:rPr>
              <a:t>OUTPUT
&amp; ANALYSIS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66400" y="10911600"/>
            <a:ext cx="5349600" cy="439200"/>
          </a:xfrm>
          <a:prstGeom prst="rect">
            <a:avLst/>
          </a:prstGeom>
          <a:solidFill>
            <a:srgbClr val="EAF5F7"/>
          </a:solidFill>
          <a:ln w="6350">
            <a:solidFill>
              <a:srgbClr val="A0D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800" rIns="36000" tIns="36000" bIns="36000"/>
          <a:lstStyle/>
          <a:p>
            <a:pPr algn="ctr">
              <a:spcAft>
                <a:spcPts val="100"/>
              </a:spcAft>
            </a:pPr>
            <a:r>
              <a:rPr sz="600" b="0" i="0">
                <a:solidFill>
                  <a:srgbClr val="222222"/>
                </a:solidFill>
              </a:rPr>
              <a:t>• CSV timeline export</a:t>
            </a:r>
          </a:p>
          <a:p>
            <a:pPr>
              <a:spcAft>
                <a:spcPts val="100"/>
              </a:spcAft>
            </a:pPr>
            <a:r>
              <a:rPr sz="600" b="0" i="0">
                <a:solidFill>
                  <a:srgbClr val="222222"/>
                </a:solidFill>
              </a:rPr>
              <a:t>• Affordability metrics · Policy comparisons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2000" y="11509200"/>
            <a:ext cx="6984000" cy="244800"/>
          </a:xfrm>
          <a:prstGeom prst="roundRect">
            <a:avLst>
              <a:gd name="adj" fmla="val 30000"/>
            </a:avLst>
          </a:prstGeom>
          <a:solidFill>
            <a:srgbClr val="1A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43200" tIns="28800" bIns="28800"/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DATA SOURCES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2000" y="11826000"/>
            <a:ext cx="6984000" cy="11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▸  </a:t>
            </a:r>
            <a:r>
              <a:rPr sz="650" b="1" i="0">
                <a:solidFill>
                  <a:srgbClr val="222222"/>
                </a:solidFill>
              </a:rPr>
              <a:t>HM Land Registry  —  Price Paid Data 2020–2024 (4.2M+ transactions)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▸  </a:t>
            </a:r>
            <a:r>
              <a:rPr sz="650" b="0" i="0">
                <a:solidFill>
                  <a:srgbClr val="222222"/>
                </a:solidFill>
              </a:rPr>
              <a:t>ONS Income Survey  —  Household income percentiles, age &amp; region (2022/23)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▸  </a:t>
            </a:r>
            <a:r>
              <a:rPr sz="650" b="0" i="0">
                <a:solidFill>
                  <a:srgbClr val="222222"/>
                </a:solidFill>
              </a:rPr>
              <a:t>Bank of England  —  Base rate history &amp; mortgage affordability guidelines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▸  </a:t>
            </a:r>
            <a:r>
              <a:rPr sz="650" b="0" i="0">
                <a:solidFill>
                  <a:srgbClr val="222222"/>
                </a:solidFill>
              </a:rPr>
              <a:t>ONS UK HPI  —  Regional annual house price growth rates &amp; indices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▸  </a:t>
            </a:r>
            <a:r>
              <a:rPr sz="650" b="0" i="0">
                <a:solidFill>
                  <a:srgbClr val="222222"/>
                </a:solidFill>
              </a:rPr>
              <a:t>HMRC / SDLT  —  Stamp duty thresholds &amp; first-time buyer relief bands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2000" y="13140000"/>
            <a:ext cx="6984000" cy="244800"/>
          </a:xfrm>
          <a:prstGeom prst="roundRect">
            <a:avLst>
              <a:gd name="adj" fmla="val 30000"/>
            </a:avLst>
          </a:prstGeom>
          <a:solidFill>
            <a:srgbClr val="1A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43200" tIns="28800" bIns="28800"/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2000" y="13456800"/>
            <a:ext cx="6984000" cy="14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▸  </a:t>
            </a:r>
            <a:r>
              <a:rPr sz="650" b="0" i="0">
                <a:solidFill>
                  <a:srgbClr val="222222"/>
                </a:solidFill>
              </a:rPr>
              <a:t>LLM Engine  —  Ollama llama3.2 (local inference, zero data leakage)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▸  </a:t>
            </a:r>
            <a:r>
              <a:rPr sz="650" b="0" i="0">
                <a:solidFill>
                  <a:srgbClr val="222222"/>
                </a:solidFill>
              </a:rPr>
              <a:t>Agent Framework  —  LangChain ReAct with 4 specialist domain tools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▸  </a:t>
            </a:r>
            <a:r>
              <a:rPr sz="650" b="0" i="0">
                <a:solidFill>
                  <a:srgbClr val="222222"/>
                </a:solidFill>
              </a:rPr>
              <a:t>Housing Data  —  Pandas + NumPy · fuzzy-match over 4.2M+ records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▸  </a:t>
            </a:r>
            <a:r>
              <a:rPr sz="650" b="0" i="0">
                <a:solidFill>
                  <a:srgbClr val="222222"/>
                </a:solidFill>
              </a:rPr>
              <a:t>Financial Layer  —  SalaryCalculator, MortgageProduct, ExpenseManager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▸  </a:t>
            </a:r>
            <a:r>
              <a:rPr sz="650" b="0" i="0">
                <a:solidFill>
                  <a:srgbClr val="222222"/>
                </a:solidFill>
              </a:rPr>
              <a:t>Algorithms  —  HousingPreferenceEvaluator, FinancialAffordabilityEvaluator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▸  </a:t>
            </a:r>
            <a:r>
              <a:rPr sz="650" b="0" i="0">
                <a:solidFill>
                  <a:srgbClr val="222222"/>
                </a:solidFill>
              </a:rPr>
              <a:t>Well-being  —  HappinessEvaluator (composite scoring 0–100)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▸  </a:t>
            </a:r>
            <a:r>
              <a:rPr sz="650" b="0" i="0">
                <a:solidFill>
                  <a:srgbClr val="222222"/>
                </a:solidFill>
              </a:rPr>
              <a:t>Output  —  SimulationLogger → CSV timeline; matplotlib charts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04000" y="2772000"/>
            <a:ext cx="6984000" cy="244800"/>
          </a:xfrm>
          <a:prstGeom prst="roundRect">
            <a:avLst>
              <a:gd name="adj" fmla="val 30000"/>
            </a:avLst>
          </a:prstGeom>
          <a:solidFill>
            <a:srgbClr val="1A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43200" tIns="28800" bIns="28800"/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AGENT ARCHITECTURE &amp; DECISION MODEL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04000" y="3088800"/>
            <a:ext cx="6984000" cy="1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1" i="0">
                <a:solidFill>
                  <a:srgbClr val="1A7A8A"/>
                </a:solidFill>
              </a:rPr>
              <a:t>ReAct Decision Loop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04000" y="3293999"/>
            <a:ext cx="6984000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0" i="0">
                <a:solidFill>
                  <a:srgbClr val="222222"/>
                </a:solidFill>
              </a:rPr>
              <a:t>Each agent runs a Reason + Act (ReAct) cycle: the LLM reviews its current financial state, invokes specialist domain tools for calculations, then synthesises a contextually grounded housing decision. This loop repeats each annual time-step across the 10-year simulation horizon.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04000" y="3833999"/>
            <a:ext cx="6984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→  </a:t>
            </a:r>
            <a:r>
              <a:rPr sz="650" b="0" i="0">
                <a:solidFill>
                  <a:srgbClr val="222222"/>
                </a:solidFill>
              </a:rPr>
              <a:t>PropertySearchTool — fuzzy search of Land Registry records by region, type &amp; budget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→  </a:t>
            </a:r>
            <a:r>
              <a:rPr sz="650" b="0" i="0">
                <a:solidFill>
                  <a:srgbClr val="222222"/>
                </a:solidFill>
              </a:rPr>
              <a:t>MortgageCalculatorTool — LTV ratios, monthly payments, stress tests (base rate + 3%)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→  </a:t>
            </a:r>
            <a:r>
              <a:rPr sz="650" b="0" i="0">
                <a:solidFill>
                  <a:srgbClr val="222222"/>
                </a:solidFill>
              </a:rPr>
              <a:t>AffordabilityAssessmentTool — income percentile, deposit readiness, price/income ratio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→  </a:t>
            </a:r>
            <a:r>
              <a:rPr sz="650" b="0" i="0">
                <a:solidFill>
                  <a:srgbClr val="222222"/>
                </a:solidFill>
              </a:rPr>
              <a:t>FinancialHealthTool — savings trajectory, debt obligations, monthly disposable income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04000" y="4895999"/>
            <a:ext cx="6984000" cy="1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1" i="0">
                <a:solidFill>
                  <a:srgbClr val="1A7A8A"/>
                </a:solidFill>
              </a:rPr>
              <a:t>Stochastic Life Events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04000" y="5101199"/>
            <a:ext cx="698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0" i="0">
                <a:solidFill>
                  <a:srgbClr val="222222"/>
                </a:solidFill>
              </a:rPr>
              <a:t>Each year agents may experience life events drawn from age-weighted probability distributions, directly influencing financial capacity and housing need.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04000" y="5461199"/>
            <a:ext cx="6984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•  </a:t>
            </a:r>
            <a:r>
              <a:rPr sz="650" b="0" i="0">
                <a:solidFill>
                  <a:srgbClr val="222222"/>
                </a:solidFill>
              </a:rPr>
              <a:t>Salary increase (15% prob., age 18–29);  job promotion (8–10%)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•  </a:t>
            </a:r>
            <a:r>
              <a:rPr sz="650" b="0" i="0">
                <a:solidFill>
                  <a:srgbClr val="222222"/>
                </a:solidFill>
              </a:rPr>
              <a:t>Job loss (2–4%);  marriage (5–8%);  birth of child (3–10%)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•  </a:t>
            </a:r>
            <a:r>
              <a:rPr sz="650" b="0" i="0">
                <a:solidFill>
                  <a:srgbClr val="222222"/>
                </a:solidFill>
              </a:rPr>
              <a:t>Divorce (1–3%);  bereavement;  serious illness;  debt increase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04000" y="6253199"/>
            <a:ext cx="6984000" cy="244800"/>
          </a:xfrm>
          <a:prstGeom prst="roundRect">
            <a:avLst>
              <a:gd name="adj" fmla="val 30000"/>
            </a:avLst>
          </a:prstGeom>
          <a:solidFill>
            <a:srgbClr val="1A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43200" tIns="28800" bIns="28800"/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RESULTS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4000" y="6569999"/>
            <a:ext cx="3447000" cy="2163975"/>
          </a:xfrm>
          <a:prstGeom prst="rect">
            <a:avLst/>
          </a:prstGeom>
        </p:spPr>
      </p:pic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1000" y="6569999"/>
            <a:ext cx="3447000" cy="1963252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7704000" y="8805974"/>
            <a:ext cx="1713600" cy="486000"/>
          </a:xfrm>
          <a:prstGeom prst="roundRect">
            <a:avLst>
              <a:gd name="adj" fmla="val 20000"/>
            </a:avLst>
          </a:prstGeom>
          <a:solidFill>
            <a:srgbClr val="EAF5F7"/>
          </a:solidFill>
          <a:ln w="10160">
            <a:solidFill>
              <a:srgbClr val="A0D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28800"/>
          <a:lstStyle/>
          <a:p>
            <a:pPr algn="ctr"/>
            <a:r>
              <a:rPr sz="800" b="1" i="0">
                <a:solidFill>
                  <a:srgbClr val="1A7A8A"/>
                </a:solidFill>
              </a:rPr>
              <a:t>67.4%</a:t>
            </a:r>
          </a:p>
          <a:p>
            <a:pPr algn="ctr">
              <a:spcBef>
                <a:spcPts val="200"/>
              </a:spcBef>
            </a:pPr>
            <a:r>
              <a:rPr sz="600" b="0" i="0">
                <a:solidFill>
                  <a:srgbClr val="222222"/>
                </a:solidFill>
              </a:rPr>
              <a:t>Homeownership
rate (10 yr)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460800" y="8805974"/>
            <a:ext cx="1713600" cy="486000"/>
          </a:xfrm>
          <a:prstGeom prst="roundRect">
            <a:avLst>
              <a:gd name="adj" fmla="val 20000"/>
            </a:avLst>
          </a:prstGeom>
          <a:solidFill>
            <a:srgbClr val="EAF5F7"/>
          </a:solidFill>
          <a:ln w="10160">
            <a:solidFill>
              <a:srgbClr val="A0D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28800"/>
          <a:lstStyle/>
          <a:p>
            <a:pPr algn="ctr"/>
            <a:r>
              <a:rPr sz="800" b="1" i="0">
                <a:solidFill>
                  <a:srgbClr val="1A7A8A"/>
                </a:solidFill>
              </a:rPr>
              <a:t>34.2 yrs</a:t>
            </a:r>
          </a:p>
          <a:p>
            <a:pPr algn="ctr">
              <a:spcBef>
                <a:spcPts val="200"/>
              </a:spcBef>
            </a:pPr>
            <a:r>
              <a:rPr sz="600" b="0" i="0">
                <a:solidFill>
                  <a:srgbClr val="222222"/>
                </a:solidFill>
              </a:rPr>
              <a:t>Median FTB
age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217600" y="8805974"/>
            <a:ext cx="1713600" cy="486000"/>
          </a:xfrm>
          <a:prstGeom prst="roundRect">
            <a:avLst>
              <a:gd name="adj" fmla="val 20000"/>
            </a:avLst>
          </a:prstGeom>
          <a:solidFill>
            <a:srgbClr val="EAF5F7"/>
          </a:solidFill>
          <a:ln w="10160">
            <a:solidFill>
              <a:srgbClr val="A0D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28800"/>
          <a:lstStyle/>
          <a:p>
            <a:pPr algn="ctr"/>
            <a:r>
              <a:rPr sz="800" b="1" i="0">
                <a:solidFill>
                  <a:srgbClr val="1A7A8A"/>
                </a:solidFill>
              </a:rPr>
              <a:t>18.3%</a:t>
            </a:r>
          </a:p>
          <a:p>
            <a:pPr algn="ctr">
              <a:spcBef>
                <a:spcPts val="200"/>
              </a:spcBef>
            </a:pPr>
            <a:r>
              <a:rPr sz="600" b="0" i="0">
                <a:solidFill>
                  <a:srgbClr val="222222"/>
                </a:solidFill>
              </a:rPr>
              <a:t>Avg deposit
% of price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2974400" y="8805974"/>
            <a:ext cx="1713600" cy="486000"/>
          </a:xfrm>
          <a:prstGeom prst="roundRect">
            <a:avLst>
              <a:gd name="adj" fmla="val 20000"/>
            </a:avLst>
          </a:prstGeom>
          <a:solidFill>
            <a:srgbClr val="EAF5F7"/>
          </a:solidFill>
          <a:ln w="10160">
            <a:solidFill>
              <a:srgbClr val="A0D0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28800"/>
          <a:lstStyle/>
          <a:p>
            <a:pPr algn="ctr"/>
            <a:r>
              <a:rPr sz="800" b="1" i="0">
                <a:solidFill>
                  <a:srgbClr val="1A7A8A"/>
                </a:solidFill>
              </a:rPr>
              <a:t>3.0%</a:t>
            </a:r>
          </a:p>
          <a:p>
            <a:pPr algn="ctr">
              <a:spcBef>
                <a:spcPts val="200"/>
              </a:spcBef>
            </a:pPr>
            <a:r>
              <a:rPr sz="600" b="0" i="0">
                <a:solidFill>
                  <a:srgbClr val="222222"/>
                </a:solidFill>
              </a:rPr>
              <a:t>Avg annual
price growth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04000" y="9453974"/>
            <a:ext cx="6984000" cy="244800"/>
          </a:xfrm>
          <a:prstGeom prst="roundRect">
            <a:avLst>
              <a:gd name="adj" fmla="val 30000"/>
            </a:avLst>
          </a:prstGeom>
          <a:solidFill>
            <a:srgbClr val="1A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43200" tIns="28800" bIns="28800"/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QUALITATIVE RESULTS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04000" y="9770774"/>
            <a:ext cx="6984000" cy="1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1" i="0">
                <a:solidFill>
                  <a:srgbClr val="1A7A8A"/>
                </a:solidFill>
              </a:rPr>
              <a:t>Emergent Behaviours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04000" y="9968774"/>
            <a:ext cx="6984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◆  </a:t>
            </a:r>
            <a:r>
              <a:rPr sz="650" b="0" i="0">
                <a:solidFill>
                  <a:srgbClr val="222222"/>
                </a:solidFill>
              </a:rPr>
              <a:t>Realistic wait-and-save behaviour: agents defer purchase during high interest-rate periods, mirroring the observed post-2022 slowdown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◆  </a:t>
            </a:r>
            <a:r>
              <a:rPr sz="650" b="0" i="0">
                <a:solidFill>
                  <a:srgbClr val="222222"/>
                </a:solidFill>
              </a:rPr>
              <a:t>Life-event cascades: marriage and promotion trigger housing upgrades; job loss extends saving periods by a mean +1.8 years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◆  </a:t>
            </a:r>
            <a:r>
              <a:rPr sz="650" b="0" i="0">
                <a:solidFill>
                  <a:srgbClr val="222222"/>
                </a:solidFill>
              </a:rPr>
              <a:t>London agents delay first purchase by 2–4 years vs Northern England equivalents on equivalent salaries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04000" y="10958774"/>
            <a:ext cx="6984000" cy="16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1" i="0">
                <a:solidFill>
                  <a:srgbClr val="1A7A8A"/>
                </a:solidFill>
              </a:rPr>
              <a:t>Policy Scenario Testing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04000" y="11156774"/>
            <a:ext cx="6984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★  </a:t>
            </a:r>
            <a:r>
              <a:rPr sz="650" b="0" i="0">
                <a:solidFill>
                  <a:srgbClr val="222222"/>
                </a:solidFill>
              </a:rPr>
              <a:t>Help-to-Buy: accelerates homeownership for households earning £25k–£45k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★  </a:t>
            </a:r>
            <a:r>
              <a:rPr sz="650" b="0" i="0">
                <a:solidFill>
                  <a:srgbClr val="222222"/>
                </a:solidFill>
              </a:rPr>
              <a:t>+2% interest rate shock: reduces transaction volume; extends saving periods by ~1.8 years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★  </a:t>
            </a:r>
            <a:r>
              <a:rPr sz="650" b="0" i="0">
                <a:solidFill>
                  <a:srgbClr val="222222"/>
                </a:solidFill>
              </a:rPr>
              <a:t>Shared ownership: most effective for households earning £25k–£40k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★  </a:t>
            </a:r>
            <a:r>
              <a:rPr sz="650" b="0" i="0">
                <a:solidFill>
                  <a:srgbClr val="222222"/>
                </a:solidFill>
              </a:rPr>
              <a:t>Stamp duty exemption: accelerates first-time buyer market entry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704000" y="12218774"/>
            <a:ext cx="6984000" cy="244800"/>
          </a:xfrm>
          <a:prstGeom prst="roundRect">
            <a:avLst>
              <a:gd name="adj" fmla="val 30000"/>
            </a:avLst>
          </a:prstGeom>
          <a:solidFill>
            <a:srgbClr val="1A7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9200" rIns="43200" tIns="28800" bIns="28800"/>
          <a:lstStyle/>
          <a:p>
            <a:pPr algn="l"/>
            <a:r>
              <a:rPr sz="850" b="1" i="0">
                <a:solidFill>
                  <a:srgbClr val="FFFFFF"/>
                </a:solidFill>
              </a:rPr>
              <a:t>CONCLUSIONS &amp; FUTURE WORK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04000" y="12535575"/>
            <a:ext cx="6984000" cy="68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0" i="0">
                <a:solidFill>
                  <a:srgbClr val="222222"/>
                </a:solidFill>
              </a:rPr>
              <a:t>This research demonstrates that LLM-driven agent-based modelling can reproduce realistic UK housing affordability dynamics. The hybrid approach — combining AI contextual reasoning with rigorous financial algorithms — provides a powerful new framework for housing policy simulation, capturing individual-level decision patterns absent from traditional econometric models.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04000" y="13273574"/>
            <a:ext cx="6984000" cy="1007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→  </a:t>
            </a:r>
            <a:r>
              <a:rPr sz="650" b="0" i="0">
                <a:solidFill>
                  <a:srgbClr val="222222"/>
                </a:solidFill>
              </a:rPr>
              <a:t>Add seller and lender agents for full market-side modelling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→  </a:t>
            </a:r>
            <a:r>
              <a:rPr sz="650" b="0" i="0">
                <a:solidFill>
                  <a:srgbClr val="222222"/>
                </a:solidFill>
              </a:rPr>
              <a:t>Incorporate spatial neighbourhood &amp; commuter-belt effects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→  </a:t>
            </a:r>
            <a:r>
              <a:rPr sz="650" b="0" i="0">
                <a:solidFill>
                  <a:srgbClr val="222222"/>
                </a:solidFill>
              </a:rPr>
              <a:t>Model new-build supply-side construction pipeline dynamics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→  </a:t>
            </a:r>
            <a:r>
              <a:rPr sz="650" b="0" i="0">
                <a:solidFill>
                  <a:srgbClr val="222222"/>
                </a:solidFill>
              </a:rPr>
              <a:t>Extend to Scottish, Welsh &amp; Northern Irish housing markets</a:t>
            </a:r>
          </a:p>
          <a:p>
            <a:pPr>
              <a:spcAft>
                <a:spcPts val="200"/>
              </a:spcAft>
            </a:pPr>
            <a:r>
              <a:rPr sz="650" b="1" i="0">
                <a:solidFill>
                  <a:srgbClr val="1A7A8A"/>
                </a:solidFill>
              </a:rPr>
              <a:t>→  </a:t>
            </a:r>
            <a:r>
              <a:rPr sz="650" b="0" i="0">
                <a:solidFill>
                  <a:srgbClr val="222222"/>
                </a:solidFill>
              </a:rPr>
              <a:t>Real-time API integration with Rightmove / Zoopla live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